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972800" cy="8229600" type="B4JIS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149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C4F1-6752-BEFD-F4B2-858081315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346836"/>
            <a:ext cx="8229600" cy="286512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BCD0BB-6D26-CA70-810D-A5C8DE8DF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22446"/>
            <a:ext cx="8229600" cy="1986914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29F35-B5FB-1B8C-989B-92832378F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2CEE-A29E-4820-AA2E-9388E4686B04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234AA-415F-8227-9A6F-E9DFB6C35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684CE-91D1-5EAB-B471-06DF8C41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D5B6-CB16-4171-ACDB-AE42A92A9C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2646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FF8E-4F39-417F-A999-8683A7F1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EFA41-F87E-E03E-93D1-BAB47C1CF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F1580-1FCB-0AAA-46FA-235564795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2CEE-A29E-4820-AA2E-9388E4686B04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24B2C-1575-6E16-A1CC-C5C67A339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C4BFB-9379-3A11-1B8C-E9B422D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D5B6-CB16-4171-ACDB-AE42A92A9C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4664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55B-DD4E-2C6F-73E6-DDC22C745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665" y="2051686"/>
            <a:ext cx="9464040" cy="3423284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E135B-E5A8-E5AE-FCF7-81997FCED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665" y="5507356"/>
            <a:ext cx="9464040" cy="1800224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75479-2DF9-1297-5A72-0B327D30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2CEE-A29E-4820-AA2E-9388E4686B04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7CF34-34C5-55A3-2023-BB9C4A09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08DE5-AE1F-FFDC-D029-C6EB18CC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D5B6-CB16-4171-ACDB-AE42A92A9C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27158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0776-DBFE-517B-E39B-15BC3598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C57DA-A9BC-125B-0E3E-90E027D04B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380" y="2190750"/>
            <a:ext cx="46634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D95CD-F2D2-4FFA-5D63-033FE58C5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4980" y="2190750"/>
            <a:ext cx="46634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ECB34-C8A6-1E0F-E4FB-EB03B58B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2CEE-A29E-4820-AA2E-9388E4686B04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CF3DA-9513-F184-270E-683B9DC6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BD1C5-06F0-8D39-52D1-5C2E9B8E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D5B6-CB16-4171-ACDB-AE42A92A9C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8411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6C620-7EBE-41D7-A6E9-354A5BEA3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09" y="438150"/>
            <a:ext cx="946404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F285D-7FAD-C00C-4A31-FAFB78E74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810" y="2017396"/>
            <a:ext cx="4642008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1B154-7FEC-2BE0-C157-4406207D4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810" y="3006090"/>
            <a:ext cx="4642008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0FF0D9-B28E-68BA-D7C4-14143EF9E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4980" y="2017396"/>
            <a:ext cx="4664869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74D335-EA19-B520-1D68-EB18AC203A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4980" y="3006090"/>
            <a:ext cx="4664869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2B5C74-B660-0A62-3DB5-7BFE99573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2CEE-A29E-4820-AA2E-9388E4686B04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61CC5-D721-9DE4-CEB2-3FEEB5952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3FA7CC-26C0-C091-82BE-8050F99D0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D5B6-CB16-4171-ACDB-AE42A92A9C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740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3E7C-E0AC-6107-F7B5-FF55ACFB6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6BB3E4-54BD-7F4E-2E10-D951B2E0F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2CEE-A29E-4820-AA2E-9388E4686B04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040BAE-5C65-9CD5-A347-66DEDA231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868C2-E196-74C0-CF42-AE8C308C7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D5B6-CB16-4171-ACDB-AE42A92A9C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5542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3DCF84-04E2-4A90-4DCD-468156C09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2CEE-A29E-4820-AA2E-9388E4686B04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4AC4F5-ADC1-4D73-F95A-66A6287FB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A771A-A7AA-4E40-2600-C0FFDEE8B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D5B6-CB16-4171-ACDB-AE42A92A9C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3842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5B39-036F-533F-1F0B-9406EC26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10" y="548640"/>
            <a:ext cx="3539013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EE024-5792-C9DF-B796-6B606A961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869" y="1184911"/>
            <a:ext cx="5554980" cy="5848350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374E5-5EF3-1E5D-A450-37C34571A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810" y="2468880"/>
            <a:ext cx="3539013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567C2-C7A6-87FC-5975-397F117B2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2CEE-A29E-4820-AA2E-9388E4686B04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05256-D2BA-CCFB-0854-3C463C4D8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79E1A-2383-957B-8A1C-2E452211A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D5B6-CB16-4171-ACDB-AE42A92A9C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198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25E01-3FDB-B817-FC7A-603EE2167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10" y="548640"/>
            <a:ext cx="3539013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CCAAC6-6096-5636-7D53-CD35FCBCCC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64869" y="1184911"/>
            <a:ext cx="5554980" cy="584835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2FB76-AD90-CE59-CE5A-7145F0A82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810" y="2468880"/>
            <a:ext cx="3539013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270F2-F1AE-E1C1-A98F-AA884B226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2CEE-A29E-4820-AA2E-9388E4686B04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D4CA8-64B4-594C-C596-C2AA60F4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63427-7168-FC15-BA28-620A655F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D5B6-CB16-4171-ACDB-AE42A92A9C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13905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993D-BDD4-ADD6-34DC-16B666D0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084D04-33FF-BA81-50C4-4E984234F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9D2AB-ADBD-0045-F0A1-9F77DAAE4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2CEE-A29E-4820-AA2E-9388E4686B04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A8CD6-B8B5-8DB6-735D-5C06FA0F5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98F78-697A-C399-F8CC-E9F4772F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D5B6-CB16-4171-ACDB-AE42A92A9C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0406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D6F1BC-D620-4E24-501E-CD7D7FBF96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52410" y="438150"/>
            <a:ext cx="236601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4B2B8-56E9-55B5-100A-99071CD54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4380" y="438150"/>
            <a:ext cx="696087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E1193-0D9C-9784-5811-E352DB3D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2CEE-A29E-4820-AA2E-9388E4686B04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E0C47-9F5D-086B-5B8B-BF95CD511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96774-C4CD-F4CD-0680-37A33293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CD5B6-CB16-4171-ACDB-AE42A92A9C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1489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E1DF3-706D-E13B-86D9-A768FBFF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438150"/>
            <a:ext cx="946404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097AF-AAF1-EC9E-55AB-FD22F908F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380" y="2190750"/>
            <a:ext cx="946404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CE343-CDEA-23E7-5D72-47C43B311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380" y="7627621"/>
            <a:ext cx="2468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22CEE-A29E-4820-AA2E-9388E4686B04}" type="datetimeFigureOut">
              <a:rPr lang="pt-PT" smtClean="0"/>
              <a:t>14/06/2026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51390-E261-8E38-D9AA-D4751EC0A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4740" y="7627621"/>
            <a:ext cx="3703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BEEE3-0197-8E82-B5C9-5414BB914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9540" y="7627621"/>
            <a:ext cx="2468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ECD5B6-CB16-4171-ACDB-AE42A92A9C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82714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02CAD8-EDD9-E556-6BA3-C4CBBE5D48D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2800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4DE09B-74B6-7D4A-6EEB-CAE537D7EDA9}"/>
              </a:ext>
            </a:extLst>
          </p:cNvPr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59A58-6741-51DB-1E22-7EC04675DFA2}"/>
              </a:ext>
            </a:extLst>
          </p:cNvPr>
          <p:cNvSpPr txBox="1"/>
          <p:nvPr/>
        </p:nvSpPr>
        <p:spPr>
          <a:xfrm>
            <a:off x="635000" y="635000"/>
            <a:ext cx="10795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4400" b="1">
                <a:solidFill>
                  <a:srgbClr val="FFFFFF"/>
                </a:solidFill>
                <a:latin typeface="Segoe UI" panose="020B0502040204020203" pitchFamily="34" charset="0"/>
              </a:rPr>
              <a:t>A IndÃºstria Queima US$ 12 BilhÃµes ao Ano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E76B6-AB18-C8AE-0E25-F51C362BFB48}"/>
              </a:ext>
            </a:extLst>
          </p:cNvPr>
          <p:cNvSpPr txBox="1"/>
          <p:nvPr/>
        </p:nvSpPr>
        <p:spPr>
          <a:xfrm>
            <a:off x="635000" y="2032000"/>
            <a:ext cx="10795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2800">
                <a:solidFill>
                  <a:srgbClr val="FFFFFF"/>
                </a:solidFill>
                <a:latin typeface="Segoe UI" panose="020B0502040204020203" pitchFamily="34" charset="0"/>
              </a:rPr>
              <a:t>â€¢ 99% de erro na exploraÃ§Ã£o inicial.
â€¢ Cada furo seco custa mais de US$ 100.000.
â€¢ LimitaÃ§Ã£o tÃ©cnica na anÃ¡lise de dados.</a:t>
            </a:r>
          </a:p>
        </p:txBody>
      </p:sp>
    </p:spTree>
    <p:extLst>
      <p:ext uri="{BB962C8B-B14F-4D97-AF65-F5344CB8AC3E}">
        <p14:creationId xmlns:p14="http://schemas.microsoft.com/office/powerpoint/2010/main" val="1079802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AE2031-BBD8-F233-6A1D-B490A06EFD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2800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BC1EDF-9D96-6EF2-E511-E47876D8AE55}"/>
              </a:ext>
            </a:extLst>
          </p:cNvPr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77A1E7-4B38-0862-58C0-13FA610758A5}"/>
              </a:ext>
            </a:extLst>
          </p:cNvPr>
          <p:cNvSpPr txBox="1"/>
          <p:nvPr/>
        </p:nvSpPr>
        <p:spPr>
          <a:xfrm>
            <a:off x="635000" y="635000"/>
            <a:ext cx="10795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4400" b="1">
                <a:solidFill>
                  <a:srgbClr val="FFFFFF"/>
                </a:solidFill>
                <a:latin typeface="Segoe UI" panose="020B0502040204020203" pitchFamily="34" charset="0"/>
              </a:rPr>
              <a:t>O Problema da InteligÃªncia Artificial Atual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50E477-6E26-536E-CA10-816D1719809D}"/>
              </a:ext>
            </a:extLst>
          </p:cNvPr>
          <p:cNvSpPr txBox="1"/>
          <p:nvPr/>
        </p:nvSpPr>
        <p:spPr>
          <a:xfrm>
            <a:off x="635000" y="2032000"/>
            <a:ext cx="10795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2800">
                <a:solidFill>
                  <a:srgbClr val="FFFFFF"/>
                </a:solidFill>
                <a:latin typeface="Segoe UI" panose="020B0502040204020203" pitchFamily="34" charset="0"/>
              </a:rPr>
              <a:t>â€¢ Modelos atuam como Caixas-Pretas.
â€¢ Indicam alvos sem explicar a matemÃ¡tica.
â€¢ Falta de confianÃ§a para aprovar orÃ§amentos.</a:t>
            </a:r>
          </a:p>
        </p:txBody>
      </p:sp>
    </p:spTree>
    <p:extLst>
      <p:ext uri="{BB962C8B-B14F-4D97-AF65-F5344CB8AC3E}">
        <p14:creationId xmlns:p14="http://schemas.microsoft.com/office/powerpoint/2010/main" val="2964845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48B954-EB91-57AF-29BD-A288D474F1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2800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DE18C2B-CCE9-BBBC-1CF6-3D25D0E1D54E}"/>
              </a:ext>
            </a:extLst>
          </p:cNvPr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FFFFA-CE37-2D66-A69F-F7671886F631}"/>
              </a:ext>
            </a:extLst>
          </p:cNvPr>
          <p:cNvSpPr txBox="1"/>
          <p:nvPr/>
        </p:nvSpPr>
        <p:spPr>
          <a:xfrm>
            <a:off x="635000" y="635000"/>
            <a:ext cx="10795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4400" b="1">
                <a:solidFill>
                  <a:srgbClr val="FFFFFF"/>
                </a:solidFill>
                <a:latin typeface="Segoe UI" panose="020B0502040204020203" pitchFamily="34" charset="0"/>
              </a:rPr>
              <a:t>A SoluÃ§Ã£o: Arquitetura Multi-Agentes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4FCE36-BDCB-6858-4C6C-8ECEFA70A464}"/>
              </a:ext>
            </a:extLst>
          </p:cNvPr>
          <p:cNvSpPr txBox="1"/>
          <p:nvPr/>
        </p:nvSpPr>
        <p:spPr>
          <a:xfrm>
            <a:off x="635000" y="2032000"/>
            <a:ext cx="10795000" cy="18158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2800">
                <a:solidFill>
                  <a:srgbClr val="FFFFFF"/>
                </a:solidFill>
                <a:latin typeface="Segoe UI" panose="020B0502040204020203" pitchFamily="34" charset="0"/>
              </a:rPr>
              <a:t>â€¢ IA Especialista, nÃ£o genÃ©rica.
â€¢ Agente Orquestrador distribui a demanda.
â€¢ Subagentes treinados exclusivamente para cada mineral.
â€¢ Zero risco de alucinaÃ§Ã£o e altÃ­ssima velocidade.</a:t>
            </a:r>
          </a:p>
        </p:txBody>
      </p:sp>
    </p:spTree>
    <p:extLst>
      <p:ext uri="{BB962C8B-B14F-4D97-AF65-F5344CB8AC3E}">
        <p14:creationId xmlns:p14="http://schemas.microsoft.com/office/powerpoint/2010/main" val="210881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07412D-2C12-50F8-CAD2-14025EB611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2800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EC266A-3DB9-4982-0587-68B893514F35}"/>
              </a:ext>
            </a:extLst>
          </p:cNvPr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D8CCA-5303-1E04-0288-7E7703676227}"/>
              </a:ext>
            </a:extLst>
          </p:cNvPr>
          <p:cNvSpPr txBox="1"/>
          <p:nvPr/>
        </p:nvSpPr>
        <p:spPr>
          <a:xfrm>
            <a:off x="635000" y="635000"/>
            <a:ext cx="10795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4400" b="1">
                <a:solidFill>
                  <a:srgbClr val="FFFFFF"/>
                </a:solidFill>
                <a:latin typeface="Segoe UI" panose="020B0502040204020203" pitchFamily="34" charset="0"/>
              </a:rPr>
              <a:t>Human-in-the-Loop (O Humano no Controle)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09930-B817-00B2-2325-B886946F7F06}"/>
              </a:ext>
            </a:extLst>
          </p:cNvPr>
          <p:cNvSpPr txBox="1"/>
          <p:nvPr/>
        </p:nvSpPr>
        <p:spPr>
          <a:xfrm>
            <a:off x="635000" y="2032000"/>
            <a:ext cx="10795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2800">
                <a:solidFill>
                  <a:srgbClr val="FFFFFF"/>
                </a:solidFill>
                <a:latin typeface="Segoe UI" panose="020B0502040204020203" pitchFamily="34" charset="0"/>
              </a:rPr>
              <a:t>â€¢ Atuamos antes da sonda tocar o solo.
â€¢ A mÃ¡quina calcula e justifica o alvo.
â€¢ O geÃ³logo avalia a equaÃ§Ã£o e toma a decisÃ£o.</a:t>
            </a:r>
          </a:p>
        </p:txBody>
      </p:sp>
    </p:spTree>
    <p:extLst>
      <p:ext uri="{BB962C8B-B14F-4D97-AF65-F5344CB8AC3E}">
        <p14:creationId xmlns:p14="http://schemas.microsoft.com/office/powerpoint/2010/main" val="136482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33E0CD-0DB6-4D82-927D-3AB7E07F226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2800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E52C6D-CD35-3D77-E4EB-FB7307E4EC62}"/>
              </a:ext>
            </a:extLst>
          </p:cNvPr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10394A-57E4-92DE-E37B-5EFDFE1D7964}"/>
              </a:ext>
            </a:extLst>
          </p:cNvPr>
          <p:cNvSpPr txBox="1"/>
          <p:nvPr/>
        </p:nvSpPr>
        <p:spPr>
          <a:xfrm>
            <a:off x="635000" y="635000"/>
            <a:ext cx="1079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4400" b="1">
                <a:solidFill>
                  <a:srgbClr val="FFFFFF"/>
                </a:solidFill>
                <a:latin typeface="Segoe UI" panose="020B0502040204020203" pitchFamily="34" charset="0"/>
              </a:rPr>
              <a:t>Ouro, Cobre e ValidaÃ§Ã£o Nacional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640803-CD25-BBB1-996C-87749CF6F702}"/>
              </a:ext>
            </a:extLst>
          </p:cNvPr>
          <p:cNvSpPr txBox="1"/>
          <p:nvPr/>
        </p:nvSpPr>
        <p:spPr>
          <a:xfrm>
            <a:off x="635000" y="2032000"/>
            <a:ext cx="10795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2800">
                <a:solidFill>
                  <a:srgbClr val="FFFFFF"/>
                </a:solidFill>
                <a:latin typeface="Segoe UI" panose="020B0502040204020203" pitchFamily="34" charset="0"/>
              </a:rPr>
              <a:t>â€¢ Foco nos metais crÃ­ticos com maior demanda.
â€¢ ValidaÃ§Ã£o em andamento com o mercado nacional.
â€¢ Conversas reais: Aura Minerals, AngloGold Ashanti e Vale.</a:t>
            </a:r>
          </a:p>
        </p:txBody>
      </p:sp>
    </p:spTree>
    <p:extLst>
      <p:ext uri="{BB962C8B-B14F-4D97-AF65-F5344CB8AC3E}">
        <p14:creationId xmlns:p14="http://schemas.microsoft.com/office/powerpoint/2010/main" val="307711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197E02-3DD6-91BC-50D4-18DE42D06C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2800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2DECB4-823E-77B4-F99F-29D1476D3FB7}"/>
              </a:ext>
            </a:extLst>
          </p:cNvPr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39F7A-1814-B851-15B6-8BD49ECB4592}"/>
              </a:ext>
            </a:extLst>
          </p:cNvPr>
          <p:cNvSpPr txBox="1"/>
          <p:nvPr/>
        </p:nvSpPr>
        <p:spPr>
          <a:xfrm>
            <a:off x="635000" y="635000"/>
            <a:ext cx="10795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4400" b="1">
                <a:solidFill>
                  <a:srgbClr val="FFFFFF"/>
                </a:solidFill>
                <a:latin typeface="Segoe UI" panose="020B0502040204020203" pitchFamily="34" charset="0"/>
              </a:rPr>
              <a:t>Modelo de NegÃ³cios e Demanda Global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F604A-169F-4399-36C6-5A438F5F12C9}"/>
              </a:ext>
            </a:extLst>
          </p:cNvPr>
          <p:cNvSpPr txBox="1"/>
          <p:nvPr/>
        </p:nvSpPr>
        <p:spPr>
          <a:xfrm>
            <a:off x="635000" y="2032000"/>
            <a:ext cx="10795000" cy="18158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2800">
                <a:solidFill>
                  <a:srgbClr val="FFFFFF"/>
                </a:solidFill>
                <a:latin typeface="Segoe UI" panose="020B0502040204020203" pitchFamily="34" charset="0"/>
              </a:rPr>
              <a:t>â€¢ Venda de licenÃ§as de software (Cliente fornece os dados).
â€¢ ValidaÃ§Ã£o do concorrente (MINML - UK) captou â‚¬6 MilhÃµes.
â€¢ Mercado desesperado por precisÃ£o preditiva.</a:t>
            </a:r>
          </a:p>
        </p:txBody>
      </p:sp>
    </p:spTree>
    <p:extLst>
      <p:ext uri="{BB962C8B-B14F-4D97-AF65-F5344CB8AC3E}">
        <p14:creationId xmlns:p14="http://schemas.microsoft.com/office/powerpoint/2010/main" val="843565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0AFB1C-0C8E-F99B-7112-BAE1653173D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2800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D7A425-437F-BDAC-4507-E81202785A96}"/>
              </a:ext>
            </a:extLst>
          </p:cNvPr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E14CC-6464-3196-BC7F-C76F1E3891D1}"/>
              </a:ext>
            </a:extLst>
          </p:cNvPr>
          <p:cNvSpPr txBox="1"/>
          <p:nvPr/>
        </p:nvSpPr>
        <p:spPr>
          <a:xfrm>
            <a:off x="635000" y="635000"/>
            <a:ext cx="1079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4400" b="1">
                <a:solidFill>
                  <a:srgbClr val="FFFFFF"/>
                </a:solidFill>
                <a:latin typeface="Segoe UI" panose="020B0502040204020203" pitchFamily="34" charset="0"/>
              </a:rPr>
              <a:t>ReduÃ§Ã£o DrÃ¡stica de Custos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CDCC2-39A4-7854-9A23-CBB202F2EDFF}"/>
              </a:ext>
            </a:extLst>
          </p:cNvPr>
          <p:cNvSpPr txBox="1"/>
          <p:nvPr/>
        </p:nvSpPr>
        <p:spPr>
          <a:xfrm>
            <a:off x="635000" y="2032000"/>
            <a:ext cx="10795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2800">
                <a:solidFill>
                  <a:srgbClr val="FFFFFF"/>
                </a:solidFill>
                <a:latin typeface="Segoe UI" panose="020B0502040204020203" pitchFamily="34" charset="0"/>
              </a:rPr>
              <a:t>â€¢ 10 erros evitados = US$ 1.000.000 salvo na campanha.
â€¢ O software se paga na prevenÃ§Ã£o de 5 perfuraÃ§Ãµes erradas.</a:t>
            </a:r>
          </a:p>
        </p:txBody>
      </p:sp>
    </p:spTree>
    <p:extLst>
      <p:ext uri="{BB962C8B-B14F-4D97-AF65-F5344CB8AC3E}">
        <p14:creationId xmlns:p14="http://schemas.microsoft.com/office/powerpoint/2010/main" val="2576593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F7539-8A85-0872-D875-563958CDB57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2800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C1944B-62D3-81BE-FA9F-2BF87A5F2260}"/>
              </a:ext>
            </a:extLst>
          </p:cNvPr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90FE18-946D-229F-5C0A-384011E53677}"/>
              </a:ext>
            </a:extLst>
          </p:cNvPr>
          <p:cNvSpPr txBox="1"/>
          <p:nvPr/>
        </p:nvSpPr>
        <p:spPr>
          <a:xfrm>
            <a:off x="635000" y="635000"/>
            <a:ext cx="1079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4400" b="1">
                <a:solidFill>
                  <a:srgbClr val="FFFFFF"/>
                </a:solidFill>
                <a:latin typeface="Segoe UI" panose="020B0502040204020203" pitchFamily="34" charset="0"/>
              </a:rPr>
              <a:t>A Origem do Projeto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3B4CC6-9D15-00F5-7B7C-7EB856168FB0}"/>
              </a:ext>
            </a:extLst>
          </p:cNvPr>
          <p:cNvSpPr txBox="1"/>
          <p:nvPr/>
        </p:nvSpPr>
        <p:spPr>
          <a:xfrm>
            <a:off x="635000" y="2032000"/>
            <a:ext cx="10795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2800">
                <a:solidFill>
                  <a:srgbClr val="FFFFFF"/>
                </a:solidFill>
                <a:latin typeface="Segoe UI" panose="020B0502040204020203" pitchFamily="34" charset="0"/>
              </a:rPr>
              <a:t>â€¢ Nascido da anÃ¡lise tÃ©cnica e acadÃªmica.
â€¢ IdentificaÃ§Ã£o de lacuna real entre teoria e operaÃ§Ã£o.
â€¢ Estrutura desenhada para leitura direta de bases.</a:t>
            </a:r>
          </a:p>
        </p:txBody>
      </p:sp>
    </p:spTree>
    <p:extLst>
      <p:ext uri="{BB962C8B-B14F-4D97-AF65-F5344CB8AC3E}">
        <p14:creationId xmlns:p14="http://schemas.microsoft.com/office/powerpoint/2010/main" val="1726927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B9C1A0-7B0A-EE30-0741-3D6A8AE10C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2800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2C06CE-A0B5-A733-E456-265B78DA5B26}"/>
              </a:ext>
            </a:extLst>
          </p:cNvPr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CEAE9-A5BF-785E-5721-87A82BA52965}"/>
              </a:ext>
            </a:extLst>
          </p:cNvPr>
          <p:cNvSpPr txBox="1"/>
          <p:nvPr/>
        </p:nvSpPr>
        <p:spPr>
          <a:xfrm>
            <a:off x="635000" y="635000"/>
            <a:ext cx="1079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4400" b="1">
                <a:solidFill>
                  <a:srgbClr val="FFFFFF"/>
                </a:solidFill>
                <a:latin typeface="Segoe UI" panose="020B0502040204020203" pitchFamily="34" charset="0"/>
              </a:rPr>
              <a:t>A Equipe OrenAI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37A98-6366-8EC0-671E-0AEDF093A7A2}"/>
              </a:ext>
            </a:extLst>
          </p:cNvPr>
          <p:cNvSpPr txBox="1"/>
          <p:nvPr/>
        </p:nvSpPr>
        <p:spPr>
          <a:xfrm>
            <a:off x="635000" y="2032000"/>
            <a:ext cx="107950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2800">
                <a:solidFill>
                  <a:srgbClr val="FFFFFF"/>
                </a:solidFill>
                <a:latin typeface="Segoe UI" panose="020B0502040204020203" pitchFamily="34" charset="0"/>
              </a:rPr>
              <a:t>â€¢ Engenharia de software aplicada Ã  indÃºstria de base.
â€¢ Unimos cÃ³digo avanÃ§ado e conhecimento do setor mineral.</a:t>
            </a:r>
          </a:p>
        </p:txBody>
      </p:sp>
    </p:spTree>
    <p:extLst>
      <p:ext uri="{BB962C8B-B14F-4D97-AF65-F5344CB8AC3E}">
        <p14:creationId xmlns:p14="http://schemas.microsoft.com/office/powerpoint/2010/main" val="243731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BF3A28-0AA7-69A6-D79C-00B7B4CA196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2800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20B23BC-5C5C-EE2D-A194-3868453EBEEC}"/>
              </a:ext>
            </a:extLst>
          </p:cNvPr>
          <p:cNvSpPr/>
          <p:nvPr/>
        </p:nvSpPr>
        <p:spPr>
          <a:xfrm>
            <a:off x="0" y="0"/>
            <a:ext cx="10972800" cy="82296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0B5-A89C-1DC7-715F-5F16DEEA9255}"/>
              </a:ext>
            </a:extLst>
          </p:cNvPr>
          <p:cNvSpPr txBox="1"/>
          <p:nvPr/>
        </p:nvSpPr>
        <p:spPr>
          <a:xfrm>
            <a:off x="635000" y="635000"/>
            <a:ext cx="1079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4400" b="1">
                <a:solidFill>
                  <a:srgbClr val="FFFFFF"/>
                </a:solidFill>
                <a:latin typeface="Segoe UI" panose="020B0502040204020203" pitchFamily="34" charset="0"/>
              </a:rPr>
              <a:t>Acelere Conosco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C916B-BD09-B13B-2BF6-1C66853A4DAE}"/>
              </a:ext>
            </a:extLst>
          </p:cNvPr>
          <p:cNvSpPr txBox="1"/>
          <p:nvPr/>
        </p:nvSpPr>
        <p:spPr>
          <a:xfrm>
            <a:off x="635000" y="2032000"/>
            <a:ext cx="10795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2800">
                <a:solidFill>
                  <a:srgbClr val="FFFFFF"/>
                </a:solidFill>
                <a:latin typeface="Segoe UI" panose="020B0502040204020203" pitchFamily="34" charset="0"/>
              </a:rPr>
              <a:t>â€¢ Gargalo financeiro mapeado.
â€¢ Produto arquitetado e conversas iniciadas.
â€¢ Buscamos expansÃ£o de rede e parceiros para escalar.</a:t>
            </a:r>
          </a:p>
        </p:txBody>
      </p:sp>
    </p:spTree>
    <p:extLst>
      <p:ext uri="{BB962C8B-B14F-4D97-AF65-F5344CB8AC3E}">
        <p14:creationId xmlns:p14="http://schemas.microsoft.com/office/powerpoint/2010/main" val="77520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Microsoft Office PowerPoint</Application>
  <PresentationFormat>Custom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Caua Felype</dc:creator>
  <cp:lastModifiedBy>Caua Felype</cp:lastModifiedBy>
  <cp:revision>1</cp:revision>
  <dcterms:created xsi:type="dcterms:W3CDTF">2026-06-14T14:37:59Z</dcterms:created>
  <dcterms:modified xsi:type="dcterms:W3CDTF">2026-06-14T14:37:59Z</dcterms:modified>
</cp:coreProperties>
</file>